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8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456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5"/>
        </a:solidFill>
        <a:effectLst/>
      </p:bgPr>
    </p:bg>
    <p:spTree>
      <p:nvGrpSpPr>
        <p:cNvPr id="1" name=""/>
        <p:cNvGrpSpPr/>
        <p:nvPr/>
      </p:nvGrpSpPr>
      <p:grpSpPr>
        <a:xfrm>
          <a:off x="0" y="0"/>
          <a:ext cx="0" cy="0"/>
          <a:chOff x="0" y="0"/>
          <a:chExt cx="0" cy="0"/>
        </a:xfrm>
      </p:grpSpPr>
      <p:sp>
        <p:nvSpPr>
          <p:cNvPr id="2" name="Shape 0"/>
          <p:cNvSpPr/>
          <p:nvPr/>
        </p:nvSpPr>
        <p:spPr>
          <a:xfrm>
            <a:off x="594360" y="438912"/>
            <a:ext cx="11000232" cy="5989320"/>
          </a:xfrm>
          <a:prstGeom prst="roundRect">
            <a:avLst>
              <a:gd name="adj" fmla="val 1832"/>
            </a:avLst>
          </a:prstGeom>
          <a:solidFill>
            <a:srgbClr val="FBF8F1"/>
          </a:solidFill>
          <a:ln w="12700">
            <a:solidFill>
              <a:srgbClr val="D9D1C4"/>
            </a:solidFill>
            <a:prstDash val="solid"/>
          </a:ln>
        </p:spPr>
      </p:sp>
      <p:sp>
        <p:nvSpPr>
          <p:cNvPr id="3" name="Text 1"/>
          <p:cNvSpPr/>
          <p:nvPr/>
        </p:nvSpPr>
        <p:spPr>
          <a:xfrm>
            <a:off x="841248" y="685800"/>
            <a:ext cx="384048" cy="228600"/>
          </a:xfrm>
          <a:prstGeom prst="rect">
            <a:avLst/>
          </a:prstGeom>
          <a:noFill/>
          <a:ln/>
        </p:spPr>
        <p:txBody>
          <a:bodyPr wrap="square" lIns="0" tIns="0" rIns="0" bIns="0" rtlCol="0" anchor="ctr"/>
          <a:lstStyle/>
          <a:p>
            <a:pPr marL="0" indent="0">
              <a:buNone/>
            </a:pPr>
            <a:r>
              <a:rPr lang="en-US" sz="1100" b="1" dirty="0">
                <a:solidFill>
                  <a:srgbClr val="6B2638"/>
                </a:solidFill>
                <a:latin typeface="Aptos" pitchFamily="34" charset="0"/>
                <a:ea typeface="Aptos" pitchFamily="34" charset="-122"/>
                <a:cs typeface="Aptos" pitchFamily="34" charset="-120"/>
              </a:rPr>
              <a:t>01</a:t>
            </a:r>
            <a:endParaRPr lang="en-US" sz="1100" dirty="0"/>
          </a:p>
        </p:txBody>
      </p:sp>
      <p:sp>
        <p:nvSpPr>
          <p:cNvPr id="4" name="Text 2"/>
          <p:cNvSpPr/>
          <p:nvPr/>
        </p:nvSpPr>
        <p:spPr>
          <a:xfrm>
            <a:off x="841248" y="941832"/>
            <a:ext cx="8046720" cy="502920"/>
          </a:xfrm>
          <a:prstGeom prst="rect">
            <a:avLst/>
          </a:prstGeom>
          <a:noFill/>
          <a:ln/>
        </p:spPr>
        <p:txBody>
          <a:bodyPr wrap="square" lIns="0" tIns="0" rIns="0" bIns="0" rtlCol="0" anchor="ctr">
            <a:normAutofit fontScale="77500" lnSpcReduction="20000"/>
          </a:bodyPr>
          <a:lstStyle/>
          <a:p>
            <a:pPr marL="0" indent="0">
              <a:buNone/>
            </a:pPr>
            <a:r>
              <a:rPr lang="en-US" sz="2700"/>
              <a:t>From coffee husk to bright futer (câu cửa miệng của dự án cafloop á)</a:t>
            </a:r>
            <a:endParaRPr lang="en-US" sz="2700" dirty="0"/>
          </a:p>
        </p:txBody>
      </p:sp>
      <p:sp>
        <p:nvSpPr>
          <p:cNvPr id="5" name="Text 3"/>
          <p:cNvSpPr/>
          <p:nvPr/>
        </p:nvSpPr>
        <p:spPr>
          <a:xfrm>
            <a:off x="850392" y="1463040"/>
            <a:ext cx="9052560" cy="566928"/>
          </a:xfrm>
          <a:prstGeom prst="rect">
            <a:avLst/>
          </a:prstGeom>
          <a:noFill/>
          <a:ln/>
        </p:spPr>
        <p:txBody>
          <a:bodyPr wrap="square" lIns="0" tIns="0" rIns="0" bIns="0" rtlCol="0" anchor="ctr">
            <a:normAutofit/>
          </a:bodyPr>
          <a:lstStyle/>
          <a:p>
            <a:pPr marL="0" indent="0">
              <a:buNone/>
            </a:pPr>
            <a:r>
              <a:rPr lang="en-US" sz="1050">
                <a:solidFill>
                  <a:srgbClr val="5F5B55"/>
                </a:solidFill>
                <a:latin typeface="Aptos" pitchFamily="34" charset="0"/>
              </a:rPr>
              <a:t>Ggioi thieu  du an cafloop</a:t>
            </a:r>
            <a:endParaRPr lang="en-US" sz="1050" dirty="0"/>
          </a:p>
        </p:txBody>
      </p:sp>
      <p:sp>
        <p:nvSpPr>
          <p:cNvPr id="6" name="Shape 4"/>
          <p:cNvSpPr/>
          <p:nvPr/>
        </p:nvSpPr>
        <p:spPr>
          <a:xfrm>
            <a:off x="9802368" y="886968"/>
            <a:ext cx="1353312" cy="438912"/>
          </a:xfrm>
          <a:prstGeom prst="roundRect">
            <a:avLst>
              <a:gd name="adj" fmla="val 16667"/>
            </a:avLst>
          </a:prstGeom>
          <a:solidFill>
            <a:srgbClr val="FBF8F1"/>
          </a:solidFill>
          <a:ln w="12700">
            <a:solidFill>
              <a:srgbClr val="D9D1C4"/>
            </a:solidFill>
            <a:prstDash val="solid"/>
          </a:ln>
        </p:spPr>
      </p:sp>
      <p:sp>
        <p:nvSpPr>
          <p:cNvPr id="7" name="Text 5"/>
          <p:cNvSpPr/>
          <p:nvPr/>
        </p:nvSpPr>
        <p:spPr>
          <a:xfrm>
            <a:off x="9902952" y="1005840"/>
            <a:ext cx="1152144" cy="164592"/>
          </a:xfrm>
          <a:prstGeom prst="rect">
            <a:avLst/>
          </a:prstGeom>
          <a:noFill/>
          <a:ln/>
        </p:spPr>
        <p:txBody>
          <a:bodyPr wrap="square" lIns="0" tIns="0" rIns="0" bIns="0" rtlCol="0" anchor="ctr"/>
          <a:lstStyle/>
          <a:p>
            <a:pPr marL="0" indent="0" algn="ctr">
              <a:buNone/>
            </a:pPr>
            <a:r>
              <a:rPr lang="en-US" sz="850" b="1" dirty="0">
                <a:solidFill>
                  <a:srgbClr val="1B4434"/>
                </a:solidFill>
                <a:latin typeface="Aptos" pitchFamily="34" charset="0"/>
                <a:ea typeface="Aptos" pitchFamily="34" charset="-122"/>
                <a:cs typeface="Aptos" pitchFamily="34" charset="-120"/>
              </a:rPr>
              <a:t>Xem dự án CAFLOOP ↗</a:t>
            </a:r>
            <a:endParaRPr lang="en-US" sz="850" dirty="0"/>
          </a:p>
        </p:txBody>
      </p:sp>
      <p:sp>
        <p:nvSpPr>
          <p:cNvPr id="8" name="Shape 6"/>
          <p:cNvSpPr/>
          <p:nvPr/>
        </p:nvSpPr>
        <p:spPr>
          <a:xfrm>
            <a:off x="841248" y="2048256"/>
            <a:ext cx="10488168" cy="2029968"/>
          </a:xfrm>
          <a:prstGeom prst="roundRect">
            <a:avLst>
              <a:gd name="adj" fmla="val 3604"/>
            </a:avLst>
          </a:prstGeom>
          <a:solidFill>
            <a:srgbClr val="E7E1D5"/>
          </a:solidFill>
          <a:ln w="12700">
            <a:solidFill>
              <a:srgbClr val="D9D1C4"/>
            </a:solidFill>
            <a:prstDash val="solid"/>
          </a:ln>
        </p:spPr>
      </p:sp>
      <p:sp>
        <p:nvSpPr>
          <p:cNvPr id="9" name="Text 7"/>
          <p:cNvSpPr/>
          <p:nvPr/>
        </p:nvSpPr>
        <p:spPr>
          <a:xfrm>
            <a:off x="3639312" y="2880360"/>
            <a:ext cx="4937760" cy="274320"/>
          </a:xfrm>
          <a:prstGeom prst="rect">
            <a:avLst/>
          </a:prstGeom>
          <a:noFill/>
          <a:ln/>
        </p:spPr>
        <p:txBody>
          <a:bodyPr wrap="square" lIns="0" tIns="0" rIns="0" bIns="0" rtlCol="0" anchor="ctr"/>
          <a:lstStyle/>
          <a:p>
            <a:pPr marL="0" indent="0" algn="ctr">
              <a:buNone/>
            </a:pPr>
            <a:r>
              <a:rPr lang="en-US" sz="1600" b="1" dirty="0">
                <a:solidFill>
                  <a:srgbClr val="8D8579"/>
                </a:solidFill>
                <a:latin typeface="Aptos" pitchFamily="34" charset="0"/>
                <a:ea typeface="Aptos" pitchFamily="34" charset="-122"/>
                <a:cs typeface="Aptos" pitchFamily="34" charset="-120"/>
              </a:rPr>
              <a:t>[  ẢNH NGANG CAFLOOP  ]</a:t>
            </a:r>
            <a:endParaRPr lang="en-US" sz="1600" dirty="0"/>
          </a:p>
        </p:txBody>
      </p:sp>
      <p:sp>
        <p:nvSpPr>
          <p:cNvPr id="10" name="Text 8"/>
          <p:cNvSpPr/>
          <p:nvPr/>
        </p:nvSpPr>
        <p:spPr>
          <a:xfrm>
            <a:off x="2148840" y="3246120"/>
            <a:ext cx="7955280" cy="201168"/>
          </a:xfrm>
          <a:prstGeom prst="rect">
            <a:avLst/>
          </a:prstGeom>
          <a:noFill/>
          <a:ln/>
        </p:spPr>
        <p:txBody>
          <a:bodyPr wrap="square" lIns="0" tIns="0" rIns="0" bIns="0" rtlCol="0" anchor="ctr"/>
          <a:lstStyle/>
          <a:p>
            <a:pPr marL="0" indent="0" algn="ctr">
              <a:buNone/>
            </a:pPr>
            <a:r>
              <a:rPr lang="en-US" sz="850" dirty="0">
                <a:solidFill>
                  <a:srgbClr val="81786C"/>
                </a:solidFill>
                <a:latin typeface="Aptos" pitchFamily="34" charset="0"/>
                <a:ea typeface="Aptos" pitchFamily="34" charset="-122"/>
                <a:cs typeface="Aptos" pitchFamily="34" charset="-120"/>
              </a:rPr>
              <a:t>Gợi ý: Chi đang trực tiếp làm CAFLOOP / sản phẩm Cascara / quy trình xử lý / packaging + QR</a:t>
            </a:r>
            <a:endParaRPr lang="en-US" sz="850" dirty="0"/>
          </a:p>
        </p:txBody>
      </p:sp>
      <p:sp>
        <p:nvSpPr>
          <p:cNvPr id="11" name="Shape 9"/>
          <p:cNvSpPr/>
          <p:nvPr/>
        </p:nvSpPr>
        <p:spPr>
          <a:xfrm>
            <a:off x="850392" y="4325112"/>
            <a:ext cx="10488168" cy="438912"/>
          </a:xfrm>
          <a:prstGeom prst="roundRect">
            <a:avLst>
              <a:gd name="adj" fmla="val 16667"/>
            </a:avLst>
          </a:prstGeom>
          <a:solidFill>
            <a:srgbClr val="EEF1E8"/>
          </a:solidFill>
          <a:ln w="12700">
            <a:solidFill>
              <a:srgbClr val="D9D1C4"/>
            </a:solidFill>
            <a:prstDash val="solid"/>
          </a:ln>
        </p:spPr>
      </p:sp>
      <p:sp>
        <p:nvSpPr>
          <p:cNvPr id="12" name="Text 10"/>
          <p:cNvSpPr/>
          <p:nvPr/>
        </p:nvSpPr>
        <p:spPr>
          <a:xfrm>
            <a:off x="1033272" y="4453128"/>
            <a:ext cx="3108960" cy="164592"/>
          </a:xfrm>
          <a:prstGeom prst="rect">
            <a:avLst/>
          </a:prstGeom>
          <a:noFill/>
          <a:ln/>
        </p:spPr>
        <p:txBody>
          <a:bodyPr wrap="square" lIns="0" tIns="0" rIns="0" bIns="0" rtlCol="0" anchor="ctr"/>
          <a:lstStyle/>
          <a:p>
            <a:pPr marL="0" indent="0">
              <a:buNone/>
            </a:pPr>
            <a:r>
              <a:rPr lang="en-US" sz="900" b="1" dirty="0">
                <a:solidFill>
                  <a:srgbClr val="1B4434"/>
                </a:solidFill>
                <a:latin typeface="Aptos" pitchFamily="34" charset="0"/>
                <a:ea typeface="Aptos" pitchFamily="34" charset="-122"/>
                <a:cs typeface="Aptos" pitchFamily="34" charset="-120"/>
              </a:rPr>
              <a:t>VAI TRÒ CỦA TÔI VỚI TƯ CÁCH FOUNDER</a:t>
            </a:r>
            <a:endParaRPr lang="en-US" sz="900" dirty="0"/>
          </a:p>
        </p:txBody>
      </p:sp>
      <p:sp>
        <p:nvSpPr>
          <p:cNvPr id="13" name="Shape 11"/>
          <p:cNvSpPr/>
          <p:nvPr/>
        </p:nvSpPr>
        <p:spPr>
          <a:xfrm>
            <a:off x="868680" y="4882896"/>
            <a:ext cx="1636776" cy="868680"/>
          </a:xfrm>
          <a:prstGeom prst="roundRect">
            <a:avLst>
              <a:gd name="adj" fmla="val 6316"/>
            </a:avLst>
          </a:prstGeom>
          <a:solidFill>
            <a:srgbClr val="FBF8F1"/>
          </a:solidFill>
          <a:ln w="8890">
            <a:solidFill>
              <a:srgbClr val="D9D1C4"/>
            </a:solidFill>
            <a:prstDash val="solid"/>
          </a:ln>
        </p:spPr>
      </p:sp>
      <p:sp>
        <p:nvSpPr>
          <p:cNvPr id="14" name="Text 12"/>
          <p:cNvSpPr/>
          <p:nvPr/>
        </p:nvSpPr>
        <p:spPr>
          <a:xfrm>
            <a:off x="978408"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PHÁT TRIỂN SẢN PHẨM</a:t>
            </a:r>
            <a:endParaRPr lang="en-US" sz="740" dirty="0"/>
          </a:p>
        </p:txBody>
      </p:sp>
      <p:sp>
        <p:nvSpPr>
          <p:cNvPr id="15" name="Text 13"/>
          <p:cNvSpPr/>
          <p:nvPr/>
        </p:nvSpPr>
        <p:spPr>
          <a:xfrm>
            <a:off x="978408"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Từ phụ phẩm cà phê thành trà Cascara và các sản phẩm quà tặng.</a:t>
            </a:r>
            <a:endParaRPr lang="en-US" sz="650" dirty="0"/>
          </a:p>
        </p:txBody>
      </p:sp>
      <p:sp>
        <p:nvSpPr>
          <p:cNvPr id="16" name="Shape 14"/>
          <p:cNvSpPr/>
          <p:nvPr/>
        </p:nvSpPr>
        <p:spPr>
          <a:xfrm>
            <a:off x="2615184" y="4882896"/>
            <a:ext cx="1636776" cy="868680"/>
          </a:xfrm>
          <a:prstGeom prst="roundRect">
            <a:avLst>
              <a:gd name="adj" fmla="val 6316"/>
            </a:avLst>
          </a:prstGeom>
          <a:solidFill>
            <a:srgbClr val="FBF8F1"/>
          </a:solidFill>
          <a:ln w="8890">
            <a:solidFill>
              <a:srgbClr val="D9D1C4"/>
            </a:solidFill>
            <a:prstDash val="solid"/>
          </a:ln>
        </p:spPr>
      </p:sp>
      <p:sp>
        <p:nvSpPr>
          <p:cNvPr id="17" name="Text 15"/>
          <p:cNvSpPr/>
          <p:nvPr/>
        </p:nvSpPr>
        <p:spPr>
          <a:xfrm>
            <a:off x="2724912"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TÀI CHÍNH &amp; PRICING</a:t>
            </a:r>
            <a:endParaRPr lang="en-US" sz="740" dirty="0"/>
          </a:p>
        </p:txBody>
      </p:sp>
      <p:sp>
        <p:nvSpPr>
          <p:cNvPr id="18" name="Text 16"/>
          <p:cNvSpPr/>
          <p:nvPr/>
        </p:nvSpPr>
        <p:spPr>
          <a:xfrm>
            <a:off x="2724912"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Theo dõi COGS, xây dựng ngân sách và điều chỉnh giá bán giai đoạn đầu.</a:t>
            </a:r>
            <a:endParaRPr lang="en-US" sz="650" dirty="0"/>
          </a:p>
        </p:txBody>
      </p:sp>
      <p:sp>
        <p:nvSpPr>
          <p:cNvPr id="19" name="Shape 17"/>
          <p:cNvSpPr/>
          <p:nvPr/>
        </p:nvSpPr>
        <p:spPr>
          <a:xfrm>
            <a:off x="4361688" y="4882896"/>
            <a:ext cx="1636776" cy="868680"/>
          </a:xfrm>
          <a:prstGeom prst="roundRect">
            <a:avLst>
              <a:gd name="adj" fmla="val 6316"/>
            </a:avLst>
          </a:prstGeom>
          <a:solidFill>
            <a:srgbClr val="FBF8F1"/>
          </a:solidFill>
          <a:ln w="8890">
            <a:solidFill>
              <a:srgbClr val="D9D1C4"/>
            </a:solidFill>
            <a:prstDash val="solid"/>
          </a:ln>
        </p:spPr>
      </p:sp>
      <p:sp>
        <p:nvSpPr>
          <p:cNvPr id="20" name="Text 18"/>
          <p:cNvSpPr/>
          <p:nvPr/>
        </p:nvSpPr>
        <p:spPr>
          <a:xfrm>
            <a:off x="4471416"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TRUY XUẤT NGUỒN GỐC</a:t>
            </a:r>
            <a:endParaRPr lang="en-US" sz="740" dirty="0"/>
          </a:p>
        </p:txBody>
      </p:sp>
      <p:sp>
        <p:nvSpPr>
          <p:cNvPr id="21" name="Text 19"/>
          <p:cNvSpPr/>
          <p:nvPr/>
        </p:nvSpPr>
        <p:spPr>
          <a:xfrm>
            <a:off x="4471416"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Tích hợp QR code vào bao bì để minh bạch chuỗi cung ứng.</a:t>
            </a:r>
            <a:endParaRPr lang="en-US" sz="650" dirty="0"/>
          </a:p>
        </p:txBody>
      </p:sp>
      <p:sp>
        <p:nvSpPr>
          <p:cNvPr id="22" name="Shape 20"/>
          <p:cNvSpPr/>
          <p:nvPr/>
        </p:nvSpPr>
        <p:spPr>
          <a:xfrm>
            <a:off x="6108192" y="4882896"/>
            <a:ext cx="1636776" cy="868680"/>
          </a:xfrm>
          <a:prstGeom prst="roundRect">
            <a:avLst>
              <a:gd name="adj" fmla="val 6316"/>
            </a:avLst>
          </a:prstGeom>
          <a:solidFill>
            <a:srgbClr val="FBF8F1"/>
          </a:solidFill>
          <a:ln w="8890">
            <a:solidFill>
              <a:srgbClr val="D9D1C4"/>
            </a:solidFill>
            <a:prstDash val="solid"/>
          </a:ln>
        </p:spPr>
      </p:sp>
      <p:sp>
        <p:nvSpPr>
          <p:cNvPr id="23" name="Text 21"/>
          <p:cNvSpPr/>
          <p:nvPr/>
        </p:nvSpPr>
        <p:spPr>
          <a:xfrm>
            <a:off x="6217920"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MÔ HÌNH KINH DOANH</a:t>
            </a:r>
            <a:endParaRPr lang="en-US" sz="740" dirty="0"/>
          </a:p>
        </p:txBody>
      </p:sp>
      <p:sp>
        <p:nvSpPr>
          <p:cNvPr id="24" name="Text 22"/>
          <p:cNvSpPr/>
          <p:nvPr/>
        </p:nvSpPr>
        <p:spPr>
          <a:xfrm>
            <a:off x="6217920"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Suy nghĩ về sourcing – sản xuất – packaging – market validation.</a:t>
            </a:r>
            <a:endParaRPr lang="en-US" sz="650" dirty="0"/>
          </a:p>
        </p:txBody>
      </p:sp>
      <p:sp>
        <p:nvSpPr>
          <p:cNvPr id="25" name="Shape 23"/>
          <p:cNvSpPr/>
          <p:nvPr/>
        </p:nvSpPr>
        <p:spPr>
          <a:xfrm>
            <a:off x="7854696" y="4882896"/>
            <a:ext cx="1636776" cy="868680"/>
          </a:xfrm>
          <a:prstGeom prst="roundRect">
            <a:avLst>
              <a:gd name="adj" fmla="val 6316"/>
            </a:avLst>
          </a:prstGeom>
          <a:solidFill>
            <a:srgbClr val="FBF8F1"/>
          </a:solidFill>
          <a:ln w="8890">
            <a:solidFill>
              <a:srgbClr val="D9D1C4"/>
            </a:solidFill>
            <a:prstDash val="solid"/>
          </a:ln>
        </p:spPr>
      </p:sp>
      <p:sp>
        <p:nvSpPr>
          <p:cNvPr id="26" name="Text 24"/>
          <p:cNvSpPr/>
          <p:nvPr/>
        </p:nvSpPr>
        <p:spPr>
          <a:xfrm>
            <a:off x="7964424"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TÁC ĐỘNG CỘNG ĐỒNG</a:t>
            </a:r>
            <a:endParaRPr lang="en-US" sz="740" dirty="0"/>
          </a:p>
        </p:txBody>
      </p:sp>
      <p:sp>
        <p:nvSpPr>
          <p:cNvPr id="27" name="Text 25"/>
          <p:cNvSpPr/>
          <p:nvPr/>
        </p:nvSpPr>
        <p:spPr>
          <a:xfrm>
            <a:off x="7964424"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Tái đầu tư lợi nhuận ban đầu vào đồ dùng học tập cho học sinh.</a:t>
            </a:r>
            <a:endParaRPr lang="en-US" sz="650" dirty="0"/>
          </a:p>
        </p:txBody>
      </p:sp>
      <p:sp>
        <p:nvSpPr>
          <p:cNvPr id="28" name="Shape 26"/>
          <p:cNvSpPr/>
          <p:nvPr/>
        </p:nvSpPr>
        <p:spPr>
          <a:xfrm>
            <a:off x="9601200" y="4882896"/>
            <a:ext cx="1636776" cy="868680"/>
          </a:xfrm>
          <a:prstGeom prst="roundRect">
            <a:avLst>
              <a:gd name="adj" fmla="val 6316"/>
            </a:avLst>
          </a:prstGeom>
          <a:solidFill>
            <a:srgbClr val="FBF8F1"/>
          </a:solidFill>
          <a:ln w="8890">
            <a:solidFill>
              <a:srgbClr val="D9D1C4"/>
            </a:solidFill>
            <a:prstDash val="solid"/>
          </a:ln>
        </p:spPr>
      </p:sp>
      <p:sp>
        <p:nvSpPr>
          <p:cNvPr id="29" name="Text 27"/>
          <p:cNvSpPr/>
          <p:nvPr/>
        </p:nvSpPr>
        <p:spPr>
          <a:xfrm>
            <a:off x="9710928" y="5056632"/>
            <a:ext cx="1417320" cy="164592"/>
          </a:xfrm>
          <a:prstGeom prst="rect">
            <a:avLst/>
          </a:prstGeom>
          <a:noFill/>
          <a:ln/>
        </p:spPr>
        <p:txBody>
          <a:bodyPr wrap="square" lIns="0" tIns="0" rIns="0" bIns="0" rtlCol="0" anchor="ctr">
            <a:normAutofit/>
          </a:bodyPr>
          <a:lstStyle/>
          <a:p>
            <a:pPr marL="0" indent="0">
              <a:buNone/>
            </a:pPr>
            <a:r>
              <a:rPr lang="en-US" sz="740" b="1" dirty="0">
                <a:solidFill>
                  <a:srgbClr val="1B4434"/>
                </a:solidFill>
                <a:latin typeface="Aptos" pitchFamily="34" charset="0"/>
                <a:ea typeface="Aptos" pitchFamily="34" charset="-122"/>
                <a:cs typeface="Aptos" pitchFamily="34" charset="-120"/>
              </a:rPr>
              <a:t>TƯ DUY HỆ THỐNG</a:t>
            </a:r>
            <a:endParaRPr lang="en-US" sz="740" dirty="0"/>
          </a:p>
        </p:txBody>
      </p:sp>
      <p:sp>
        <p:nvSpPr>
          <p:cNvPr id="30" name="Text 28"/>
          <p:cNvSpPr/>
          <p:nvPr/>
        </p:nvSpPr>
        <p:spPr>
          <a:xfrm>
            <a:off x="9710928" y="5285232"/>
            <a:ext cx="1417320" cy="329184"/>
          </a:xfrm>
          <a:prstGeom prst="rect">
            <a:avLst/>
          </a:prstGeom>
          <a:noFill/>
          <a:ln/>
        </p:spPr>
        <p:txBody>
          <a:bodyPr wrap="square" lIns="0" tIns="0" rIns="0" bIns="0" rtlCol="0" anchor="ctr">
            <a:normAutofit/>
          </a:bodyPr>
          <a:lstStyle/>
          <a:p>
            <a:pPr marL="0" indent="0">
              <a:buNone/>
            </a:pPr>
            <a:r>
              <a:rPr lang="en-US" sz="650" dirty="0">
                <a:solidFill>
                  <a:srgbClr val="5F5B55"/>
                </a:solidFill>
                <a:latin typeface="Aptos" pitchFamily="34" charset="0"/>
                <a:ea typeface="Aptos" pitchFamily="34" charset="-122"/>
                <a:cs typeface="Aptos" pitchFamily="34" charset="-120"/>
              </a:rPr>
              <a:t>Kết nối nông nghiệp – sản phẩm – dữ liệu – giá trị kinh tế – cộng đồng.</a:t>
            </a:r>
            <a:endParaRPr lang="en-US" sz="650" dirty="0"/>
          </a:p>
        </p:txBody>
      </p:sp>
      <p:sp>
        <p:nvSpPr>
          <p:cNvPr id="31" name="Shape 29"/>
          <p:cNvSpPr/>
          <p:nvPr/>
        </p:nvSpPr>
        <p:spPr>
          <a:xfrm>
            <a:off x="868680" y="5879592"/>
            <a:ext cx="10451592" cy="393192"/>
          </a:xfrm>
          <a:prstGeom prst="roundRect">
            <a:avLst>
              <a:gd name="adj" fmla="val 13953"/>
            </a:avLst>
          </a:prstGeom>
          <a:solidFill>
            <a:srgbClr val="F2F4EA"/>
          </a:solidFill>
          <a:ln w="8890">
            <a:solidFill>
              <a:srgbClr val="D9D1C4"/>
            </a:solidFill>
            <a:prstDash val="solid"/>
          </a:ln>
        </p:spPr>
      </p:sp>
      <p:sp>
        <p:nvSpPr>
          <p:cNvPr id="32" name="Text 30"/>
          <p:cNvSpPr/>
          <p:nvPr/>
        </p:nvSpPr>
        <p:spPr>
          <a:xfrm>
            <a:off x="1078992" y="5980176"/>
            <a:ext cx="8229600" cy="164592"/>
          </a:xfrm>
          <a:prstGeom prst="rect">
            <a:avLst/>
          </a:prstGeom>
          <a:noFill/>
          <a:ln/>
        </p:spPr>
        <p:txBody>
          <a:bodyPr wrap="square" lIns="0" tIns="0" rIns="0" bIns="0" rtlCol="0" anchor="ctr">
            <a:normAutofit/>
          </a:bodyPr>
          <a:lstStyle/>
          <a:p>
            <a:pPr marL="0" indent="0">
              <a:buNone/>
            </a:pP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71B064-4211-D3E2-606E-02983EBBE115}"/>
              </a:ext>
            </a:extLst>
          </p:cNvPr>
          <p:cNvSpPr txBox="1"/>
          <p:nvPr/>
        </p:nvSpPr>
        <p:spPr>
          <a:xfrm>
            <a:off x="1052623" y="2782669"/>
            <a:ext cx="9707526" cy="1200329"/>
          </a:xfrm>
          <a:prstGeom prst="rect">
            <a:avLst/>
          </a:prstGeom>
          <a:noFill/>
        </p:spPr>
        <p:txBody>
          <a:bodyPr wrap="square" rtlCol="0">
            <a:spAutoFit/>
          </a:bodyPr>
          <a:lstStyle/>
          <a:p>
            <a:r>
              <a:rPr lang="en-US"/>
              <a:t>2. Ở chỗ ảnh trong khung cô muốn một concept ân tượng, con có thể tư vấn cho cô nhé kiểu nó phải bộ được tinh thần của cafloop chỗ này nên ccon chọn ảnh cho cô nhé</a:t>
            </a:r>
          </a:p>
          <a:p>
            <a:endParaRPr lang="en-US"/>
          </a:p>
          <a:p>
            <a:endParaRPr lang="en-US"/>
          </a:p>
        </p:txBody>
      </p:sp>
      <p:sp>
        <p:nvSpPr>
          <p:cNvPr id="5" name="TextBox 4">
            <a:extLst>
              <a:ext uri="{FF2B5EF4-FFF2-40B4-BE49-F238E27FC236}">
                <a16:creationId xmlns:a16="http://schemas.microsoft.com/office/drawing/2014/main" id="{31A76FA1-A321-9084-AD5E-5851BE2226DB}"/>
              </a:ext>
            </a:extLst>
          </p:cNvPr>
          <p:cNvSpPr txBox="1"/>
          <p:nvPr/>
        </p:nvSpPr>
        <p:spPr>
          <a:xfrm>
            <a:off x="1052623" y="797442"/>
            <a:ext cx="8920717" cy="646331"/>
          </a:xfrm>
          <a:prstGeom prst="rect">
            <a:avLst/>
          </a:prstGeom>
          <a:noFill/>
        </p:spPr>
        <p:txBody>
          <a:bodyPr wrap="square" rtlCol="0">
            <a:spAutoFit/>
          </a:bodyPr>
          <a:lstStyle/>
          <a:p>
            <a:r>
              <a:rPr lang="en-US"/>
              <a:t>1. Trang 1: Cho ảnh hồ sơ của chi to lên chút cho ấn tượng, tư vấn hộ cô là ảnh với đàn tơ rung hay ảnh mặc vest</a:t>
            </a:r>
          </a:p>
        </p:txBody>
      </p:sp>
      <p:sp>
        <p:nvSpPr>
          <p:cNvPr id="16" name="TextBox 15">
            <a:extLst>
              <a:ext uri="{FF2B5EF4-FFF2-40B4-BE49-F238E27FC236}">
                <a16:creationId xmlns:a16="http://schemas.microsoft.com/office/drawing/2014/main" id="{2E27DE39-3A05-05A9-3C81-A6DD414F7F80}"/>
              </a:ext>
            </a:extLst>
          </p:cNvPr>
          <p:cNvSpPr txBox="1"/>
          <p:nvPr/>
        </p:nvSpPr>
        <p:spPr>
          <a:xfrm>
            <a:off x="1222744" y="4667693"/>
            <a:ext cx="9537405" cy="369332"/>
          </a:xfrm>
          <a:prstGeom prst="rect">
            <a:avLst/>
          </a:prstGeom>
          <a:noFill/>
        </p:spPr>
        <p:txBody>
          <a:bodyPr wrap="square" rtlCol="0">
            <a:spAutoFit/>
          </a:bodyPr>
          <a:lstStyle/>
          <a:p>
            <a:r>
              <a:rPr lang="en-US"/>
              <a:t>Phần tơ rung có thể bỏ vì nó trùng với mấy phần sau</a:t>
            </a:r>
          </a:p>
        </p:txBody>
      </p:sp>
    </p:spTree>
    <p:extLst>
      <p:ext uri="{BB962C8B-B14F-4D97-AF65-F5344CB8AC3E}">
        <p14:creationId xmlns:p14="http://schemas.microsoft.com/office/powerpoint/2010/main" val="3782729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266</Words>
  <Application>Microsoft Office PowerPoint</Application>
  <PresentationFormat>Widescreen</PresentationFormat>
  <Paragraphs>23</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Aptos</vt:lpstr>
      <vt:lpstr>Arial</vt:lpstr>
      <vt:lpstr>Office Theme</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CAFLOOP Founder Section Mockup</dc:title>
  <dc:subject>CAFLOOP editable web section mockup</dc:subject>
  <dc:creator>OpenAI</dc:creator>
  <cp:lastModifiedBy>Admin</cp:lastModifiedBy>
  <cp:revision>3</cp:revision>
  <dcterms:created xsi:type="dcterms:W3CDTF">2026-10-01T10:39:42Z</dcterms:created>
  <dcterms:modified xsi:type="dcterms:W3CDTF">2026-10-01T13:13:15Z</dcterms:modified>
</cp:coreProperties>
</file>